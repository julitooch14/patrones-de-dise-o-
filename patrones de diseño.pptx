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8" r:id="rId3"/>
    <p:sldId id="262" r:id="rId4"/>
    <p:sldId id="263" r:id="rId5"/>
    <p:sldId id="269" r:id="rId6"/>
    <p:sldId id="272" r:id="rId7"/>
    <p:sldId id="273" r:id="rId8"/>
    <p:sldId id="271" r:id="rId9"/>
    <p:sldId id="259" r:id="rId10"/>
    <p:sldId id="260" r:id="rId11"/>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4985C5-2BD2-4756-9CCC-9FE44A66F4C3}" v="18" dt="2026-09-25T19:22:10.218"/>
    <p1510:client id="{ECCAF035-CCC9-492E-ADFD-ABF94C7410C0}" v="2" dt="2026-09-25T20:12:02.4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58" autoAdjust="0"/>
    <p:restoredTop sz="94660"/>
  </p:normalViewPr>
  <p:slideViewPr>
    <p:cSldViewPr snapToGrid="0">
      <p:cViewPr varScale="1">
        <p:scale>
          <a:sx n="78" d="100"/>
          <a:sy n="78" d="100"/>
        </p:scale>
        <p:origin x="81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an Ocampo" userId="5e7a50f99937be7f" providerId="LiveId" clId="{D05295E7-F24F-48F0-9DC6-BBE49E69B9C9}"/>
    <pc:docChg chg="modSld">
      <pc:chgData name="Julian Ocampo" userId="5e7a50f99937be7f" providerId="LiveId" clId="{D05295E7-F24F-48F0-9DC6-BBE49E69B9C9}" dt="2026-09-25T20:12:44.317" v="88" actId="1035"/>
      <pc:docMkLst>
        <pc:docMk/>
      </pc:docMkLst>
      <pc:sldChg chg="modSp mod">
        <pc:chgData name="Julian Ocampo" userId="5e7a50f99937be7f" providerId="LiveId" clId="{D05295E7-F24F-48F0-9DC6-BBE49E69B9C9}" dt="2026-09-25T20:12:44.317" v="88" actId="1035"/>
        <pc:sldMkLst>
          <pc:docMk/>
          <pc:sldMk cId="336799566" sldId="258"/>
        </pc:sldMkLst>
        <pc:spChg chg="mod">
          <ac:chgData name="Julian Ocampo" userId="5e7a50f99937be7f" providerId="LiveId" clId="{D05295E7-F24F-48F0-9DC6-BBE49E69B9C9}" dt="2026-09-25T20:12:44.317" v="88" actId="1035"/>
          <ac:spMkLst>
            <pc:docMk/>
            <pc:sldMk cId="336799566" sldId="258"/>
            <ac:spMk id="7" creationId="{1BDD5339-B042-6CFA-DC55-4AD805855A6C}"/>
          </ac:spMkLst>
        </pc:spChg>
      </pc:sldChg>
      <pc:sldChg chg="modSp mod">
        <pc:chgData name="Julian Ocampo" userId="5e7a50f99937be7f" providerId="LiveId" clId="{D05295E7-F24F-48F0-9DC6-BBE49E69B9C9}" dt="2026-09-25T20:12:11.084" v="13" actId="1076"/>
        <pc:sldMkLst>
          <pc:docMk/>
          <pc:sldMk cId="214070284" sldId="259"/>
        </pc:sldMkLst>
        <pc:spChg chg="mod">
          <ac:chgData name="Julian Ocampo" userId="5e7a50f99937be7f" providerId="LiveId" clId="{D05295E7-F24F-48F0-9DC6-BBE49E69B9C9}" dt="2026-09-25T20:12:11.084" v="13" actId="1076"/>
          <ac:spMkLst>
            <pc:docMk/>
            <pc:sldMk cId="214070284" sldId="259"/>
            <ac:spMk id="6" creationId="{0B4410E5-D8AC-F78C-CA10-865C7B4727D5}"/>
          </ac:spMkLst>
        </pc:spChg>
      </pc:sldChg>
      <pc:sldChg chg="modSp mod">
        <pc:chgData name="Julian Ocampo" userId="5e7a50f99937be7f" providerId="LiveId" clId="{D05295E7-F24F-48F0-9DC6-BBE49E69B9C9}" dt="2026-09-25T20:12:34.684" v="56" actId="1036"/>
        <pc:sldMkLst>
          <pc:docMk/>
          <pc:sldMk cId="978567125" sldId="262"/>
        </pc:sldMkLst>
        <pc:spChg chg="mod">
          <ac:chgData name="Julian Ocampo" userId="5e7a50f99937be7f" providerId="LiveId" clId="{D05295E7-F24F-48F0-9DC6-BBE49E69B9C9}" dt="2026-09-25T20:12:34.684" v="56" actId="1036"/>
          <ac:spMkLst>
            <pc:docMk/>
            <pc:sldMk cId="978567125" sldId="262"/>
            <ac:spMk id="5" creationId="{8095D8C7-8474-EB1B-EF8C-9A5591B96425}"/>
          </ac:spMkLst>
        </pc:spChg>
      </pc:sldChg>
      <pc:sldChg chg="modSp mod">
        <pc:chgData name="Julian Ocampo" userId="5e7a50f99937be7f" providerId="LiveId" clId="{D05295E7-F24F-48F0-9DC6-BBE49E69B9C9}" dt="2026-09-25T20:12:27.252" v="34" actId="1036"/>
        <pc:sldMkLst>
          <pc:docMk/>
          <pc:sldMk cId="1616191828" sldId="269"/>
        </pc:sldMkLst>
        <pc:spChg chg="mod">
          <ac:chgData name="Julian Ocampo" userId="5e7a50f99937be7f" providerId="LiveId" clId="{D05295E7-F24F-48F0-9DC6-BBE49E69B9C9}" dt="2026-09-25T20:12:27.252" v="34" actId="1036"/>
          <ac:spMkLst>
            <pc:docMk/>
            <pc:sldMk cId="1616191828" sldId="269"/>
            <ac:spMk id="7" creationId="{B49B331A-DB1C-6B15-A2BC-F6217521AFE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D8A7D1-AF75-49B1-923D-4C5E79A6D9EB}" type="datetimeFigureOut">
              <a:rPr lang="es-CO" smtClean="0"/>
              <a:t>25/09/2026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E22FD5-07AC-4B43-9E4C-5DC4798116F4}" type="slidenum">
              <a:rPr lang="es-CO" smtClean="0"/>
              <a:t>‹Nº›</a:t>
            </a:fld>
            <a:endParaRPr lang="es-CO"/>
          </a:p>
        </p:txBody>
      </p:sp>
    </p:spTree>
    <p:extLst>
      <p:ext uri="{BB962C8B-B14F-4D97-AF65-F5344CB8AC3E}">
        <p14:creationId xmlns:p14="http://schemas.microsoft.com/office/powerpoint/2010/main" val="1867241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r>
              <a:rPr lang="es-CO" dirty="0"/>
              <a:t>30 segundos</a:t>
            </a:r>
          </a:p>
        </p:txBody>
      </p:sp>
      <p:sp>
        <p:nvSpPr>
          <p:cNvPr id="4" name="Marcador de número de diapositiva 3"/>
          <p:cNvSpPr>
            <a:spLocks noGrp="1"/>
          </p:cNvSpPr>
          <p:nvPr>
            <p:ph type="sldNum" sz="quarter" idx="5"/>
          </p:nvPr>
        </p:nvSpPr>
        <p:spPr/>
        <p:txBody>
          <a:bodyPr/>
          <a:lstStyle/>
          <a:p>
            <a:fld id="{26E22FD5-07AC-4B43-9E4C-5DC4798116F4}" type="slidenum">
              <a:rPr lang="es-CO" smtClean="0"/>
              <a:t>1</a:t>
            </a:fld>
            <a:endParaRPr lang="es-CO"/>
          </a:p>
        </p:txBody>
      </p:sp>
    </p:spTree>
    <p:extLst>
      <p:ext uri="{BB962C8B-B14F-4D97-AF65-F5344CB8AC3E}">
        <p14:creationId xmlns:p14="http://schemas.microsoft.com/office/powerpoint/2010/main" val="4217524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r>
              <a:rPr lang="es-CO" dirty="0"/>
              <a:t>30 segundos</a:t>
            </a:r>
          </a:p>
        </p:txBody>
      </p:sp>
      <p:sp>
        <p:nvSpPr>
          <p:cNvPr id="4" name="Marcador de número de diapositiva 3"/>
          <p:cNvSpPr>
            <a:spLocks noGrp="1"/>
          </p:cNvSpPr>
          <p:nvPr>
            <p:ph type="sldNum" sz="quarter" idx="5"/>
          </p:nvPr>
        </p:nvSpPr>
        <p:spPr/>
        <p:txBody>
          <a:bodyPr/>
          <a:lstStyle/>
          <a:p>
            <a:fld id="{26E22FD5-07AC-4B43-9E4C-5DC4798116F4}" type="slidenum">
              <a:rPr lang="es-CO" smtClean="0"/>
              <a:t>2</a:t>
            </a:fld>
            <a:endParaRPr lang="es-CO"/>
          </a:p>
        </p:txBody>
      </p:sp>
    </p:spTree>
    <p:extLst>
      <p:ext uri="{BB962C8B-B14F-4D97-AF65-F5344CB8AC3E}">
        <p14:creationId xmlns:p14="http://schemas.microsoft.com/office/powerpoint/2010/main" val="1487898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r>
              <a:rPr lang="es-CO" dirty="0"/>
              <a:t>1.5 minutos</a:t>
            </a:r>
          </a:p>
          <a:p>
            <a:endParaRPr lang="es-CO" dirty="0"/>
          </a:p>
        </p:txBody>
      </p:sp>
      <p:sp>
        <p:nvSpPr>
          <p:cNvPr id="4" name="Marcador de número de diapositiva 3"/>
          <p:cNvSpPr>
            <a:spLocks noGrp="1"/>
          </p:cNvSpPr>
          <p:nvPr>
            <p:ph type="sldNum" sz="quarter" idx="5"/>
          </p:nvPr>
        </p:nvSpPr>
        <p:spPr/>
        <p:txBody>
          <a:bodyPr/>
          <a:lstStyle/>
          <a:p>
            <a:fld id="{26E22FD5-07AC-4B43-9E4C-5DC4798116F4}" type="slidenum">
              <a:rPr lang="es-CO" smtClean="0"/>
              <a:t>3</a:t>
            </a:fld>
            <a:endParaRPr lang="es-CO"/>
          </a:p>
        </p:txBody>
      </p:sp>
    </p:spTree>
    <p:extLst>
      <p:ext uri="{BB962C8B-B14F-4D97-AF65-F5344CB8AC3E}">
        <p14:creationId xmlns:p14="http://schemas.microsoft.com/office/powerpoint/2010/main" val="3951274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r>
              <a:rPr lang="es-CO" dirty="0"/>
              <a:t>2 minutos</a:t>
            </a:r>
          </a:p>
        </p:txBody>
      </p:sp>
      <p:sp>
        <p:nvSpPr>
          <p:cNvPr id="4" name="Marcador de número de diapositiva 3"/>
          <p:cNvSpPr>
            <a:spLocks noGrp="1"/>
          </p:cNvSpPr>
          <p:nvPr>
            <p:ph type="sldNum" sz="quarter" idx="5"/>
          </p:nvPr>
        </p:nvSpPr>
        <p:spPr/>
        <p:txBody>
          <a:bodyPr/>
          <a:lstStyle/>
          <a:p>
            <a:fld id="{26E22FD5-07AC-4B43-9E4C-5DC4798116F4}" type="slidenum">
              <a:rPr lang="es-CO" smtClean="0"/>
              <a:t>4</a:t>
            </a:fld>
            <a:endParaRPr lang="es-CO"/>
          </a:p>
        </p:txBody>
      </p:sp>
    </p:spTree>
    <p:extLst>
      <p:ext uri="{BB962C8B-B14F-4D97-AF65-F5344CB8AC3E}">
        <p14:creationId xmlns:p14="http://schemas.microsoft.com/office/powerpoint/2010/main" val="110301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5FAD6-CED7-3A74-5219-BA81AA13D67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CC990A1-FCA1-77C8-5EA4-674729B9C60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C5600434-0C3F-9E19-9EE4-91CC9CC483F3}"/>
              </a:ext>
            </a:extLst>
          </p:cNvPr>
          <p:cNvSpPr>
            <a:spLocks noGrp="1"/>
          </p:cNvSpPr>
          <p:nvPr>
            <p:ph type="body" idx="1"/>
          </p:nvPr>
        </p:nvSpPr>
        <p:spPr/>
        <p:txBody>
          <a:bodyPr/>
          <a:lstStyle/>
          <a:p>
            <a:r>
              <a:rPr lang="es-CO" dirty="0"/>
              <a:t>2 minutos</a:t>
            </a:r>
          </a:p>
        </p:txBody>
      </p:sp>
      <p:sp>
        <p:nvSpPr>
          <p:cNvPr id="4" name="Marcador de número de diapositiva 3">
            <a:extLst>
              <a:ext uri="{FF2B5EF4-FFF2-40B4-BE49-F238E27FC236}">
                <a16:creationId xmlns:a16="http://schemas.microsoft.com/office/drawing/2014/main" id="{16862EB2-45DF-3709-0414-91804E936668}"/>
              </a:ext>
            </a:extLst>
          </p:cNvPr>
          <p:cNvSpPr>
            <a:spLocks noGrp="1"/>
          </p:cNvSpPr>
          <p:nvPr>
            <p:ph type="sldNum" sz="quarter" idx="5"/>
          </p:nvPr>
        </p:nvSpPr>
        <p:spPr/>
        <p:txBody>
          <a:bodyPr/>
          <a:lstStyle/>
          <a:p>
            <a:fld id="{26E22FD5-07AC-4B43-9E4C-5DC4798116F4}" type="slidenum">
              <a:rPr lang="es-CO" smtClean="0"/>
              <a:t>5</a:t>
            </a:fld>
            <a:endParaRPr lang="es-CO"/>
          </a:p>
        </p:txBody>
      </p:sp>
    </p:spTree>
    <p:extLst>
      <p:ext uri="{BB962C8B-B14F-4D97-AF65-F5344CB8AC3E}">
        <p14:creationId xmlns:p14="http://schemas.microsoft.com/office/powerpoint/2010/main" val="27119235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r>
              <a:rPr lang="es-CO" dirty="0"/>
              <a:t>2 minutos</a:t>
            </a:r>
          </a:p>
        </p:txBody>
      </p:sp>
      <p:sp>
        <p:nvSpPr>
          <p:cNvPr id="4" name="Marcador de número de diapositiva 3"/>
          <p:cNvSpPr>
            <a:spLocks noGrp="1"/>
          </p:cNvSpPr>
          <p:nvPr>
            <p:ph type="sldNum" sz="quarter" idx="5"/>
          </p:nvPr>
        </p:nvSpPr>
        <p:spPr/>
        <p:txBody>
          <a:bodyPr/>
          <a:lstStyle/>
          <a:p>
            <a:fld id="{26E22FD5-07AC-4B43-9E4C-5DC4798116F4}" type="slidenum">
              <a:rPr lang="es-CO" smtClean="0"/>
              <a:t>9</a:t>
            </a:fld>
            <a:endParaRPr lang="es-CO"/>
          </a:p>
        </p:txBody>
      </p:sp>
    </p:spTree>
    <p:extLst>
      <p:ext uri="{BB962C8B-B14F-4D97-AF65-F5344CB8AC3E}">
        <p14:creationId xmlns:p14="http://schemas.microsoft.com/office/powerpoint/2010/main" val="1768926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A1CD0C-2133-1BEB-B1D0-2B5BA87B051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6F66585A-B9A6-1153-1B3F-631F77B9A9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559C95B5-498E-3803-3AB8-D8181146E7AA}"/>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5" name="Marcador de pie de página 4">
            <a:extLst>
              <a:ext uri="{FF2B5EF4-FFF2-40B4-BE49-F238E27FC236}">
                <a16:creationId xmlns:a16="http://schemas.microsoft.com/office/drawing/2014/main" id="{906CE6B0-210F-8232-7203-DEA42DC07AA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B824E0D-E6C8-44AF-E902-56158D2AE9DB}"/>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779955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ED6C11-2F68-0AA4-5D2D-B5D81CA2EBF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CB5A774E-F425-9451-2AD3-69C4CA34EDB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ED38164-B509-50D7-F133-B0D241A214AD}"/>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5" name="Marcador de pie de página 4">
            <a:extLst>
              <a:ext uri="{FF2B5EF4-FFF2-40B4-BE49-F238E27FC236}">
                <a16:creationId xmlns:a16="http://schemas.microsoft.com/office/drawing/2014/main" id="{F1F201D6-698C-F87A-E87B-90B388650F0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1D4390E-5080-AE27-848F-DE99B7EE8E35}"/>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510996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81F43B-6F90-3C9A-721D-847746D813B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B2805D2-D47A-E1C0-302A-7BB9D046EE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71E4870-6C61-F8D6-F30F-159BDEB9ABED}"/>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5" name="Marcador de pie de página 4">
            <a:extLst>
              <a:ext uri="{FF2B5EF4-FFF2-40B4-BE49-F238E27FC236}">
                <a16:creationId xmlns:a16="http://schemas.microsoft.com/office/drawing/2014/main" id="{9F712B1C-6462-CA09-DD85-B9A010829CA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722A97A-0F17-7FD2-212C-3029940C530E}"/>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3283719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E161EC-0316-6F85-1E61-6DBCB402877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7D347F2-FC82-C076-01DE-0936CFC4855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1B0F09E2-86C5-D68C-6770-CC9276E3077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6B5216C7-A653-7989-EBE3-82E436958419}"/>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6" name="Marcador de pie de página 5">
            <a:extLst>
              <a:ext uri="{FF2B5EF4-FFF2-40B4-BE49-F238E27FC236}">
                <a16:creationId xmlns:a16="http://schemas.microsoft.com/office/drawing/2014/main" id="{F80FA8D9-DD0C-08C2-5C81-28054EF0E9B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E3D9524B-2360-C1E7-0478-D6A0D2AE39F4}"/>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2220838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68BE79-344B-3711-264F-57C7E63A5E8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59CC3AA-8215-056C-2A41-E56566F9C0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1211A87-89E2-5D25-B2ED-57078C2B61B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9E39C36-017C-3060-41E0-299B3450A4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D890FD3-2935-8032-0EB3-1FC3B8C2E22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85CADFA3-E82F-0317-AD8F-8D23EC41A5EC}"/>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8" name="Marcador de pie de página 7">
            <a:extLst>
              <a:ext uri="{FF2B5EF4-FFF2-40B4-BE49-F238E27FC236}">
                <a16:creationId xmlns:a16="http://schemas.microsoft.com/office/drawing/2014/main" id="{EC88C78A-5B6C-10FA-EDF0-695E7063D26F}"/>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ADB40355-4549-A31B-969F-3574C6EDECE9}"/>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3263217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DED56A-4167-233A-B17A-4EA99DEABDF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C00ECB5D-9483-99FF-8340-A5AFB86E832D}"/>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4" name="Marcador de pie de página 3">
            <a:extLst>
              <a:ext uri="{FF2B5EF4-FFF2-40B4-BE49-F238E27FC236}">
                <a16:creationId xmlns:a16="http://schemas.microsoft.com/office/drawing/2014/main" id="{48DB8DE2-7185-0915-7BC7-2E69A4ACA265}"/>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A0A605D0-CE9B-9FAD-2423-243602F2B590}"/>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3009957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CA0CC1B-120C-0F49-D36D-BAEA60A78C85}"/>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3" name="Marcador de pie de página 2">
            <a:extLst>
              <a:ext uri="{FF2B5EF4-FFF2-40B4-BE49-F238E27FC236}">
                <a16:creationId xmlns:a16="http://schemas.microsoft.com/office/drawing/2014/main" id="{18C13FED-D615-8DC2-101D-1DF2E4E4732B}"/>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E31C7337-BFDB-B02E-ABB0-E5F83488588A}"/>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481117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3E25C8-728A-6BA2-6934-E8192C5A954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3BB3D7EC-3401-B428-49CE-0A834F8132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DE0D5D9E-91E8-3A0F-1BBA-D22CF9A402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21744F7-4977-D716-D08F-2D943793C18A}"/>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6" name="Marcador de pie de página 5">
            <a:extLst>
              <a:ext uri="{FF2B5EF4-FFF2-40B4-BE49-F238E27FC236}">
                <a16:creationId xmlns:a16="http://schemas.microsoft.com/office/drawing/2014/main" id="{4ECCF612-0764-A237-6897-F89156583D8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AE1CE97-CEF7-7A2A-C0E7-BF3ECF1BD989}"/>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3185146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1BF6FF-9D40-4E22-423A-24BCED9DC6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70AE2320-1EF8-003E-2F6F-991A9E8BE5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378EBBEE-3BC4-8972-A192-830C1E66C9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728B12D-1D38-E41C-6803-3FE1E40E5DB0}"/>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6" name="Marcador de pie de página 5">
            <a:extLst>
              <a:ext uri="{FF2B5EF4-FFF2-40B4-BE49-F238E27FC236}">
                <a16:creationId xmlns:a16="http://schemas.microsoft.com/office/drawing/2014/main" id="{643D7CE7-FABD-36B4-343A-099F063414E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A4B1085-6A7E-F994-332B-F9D4ED7A5561}"/>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1936462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4D6CD1-97A6-41D4-28AA-B32F657DBB9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6CEF27E2-E27E-149C-BC2C-E16CF5B6ABE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05D596B-F08E-D8DC-3217-046FC78940F4}"/>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5" name="Marcador de pie de página 4">
            <a:extLst>
              <a:ext uri="{FF2B5EF4-FFF2-40B4-BE49-F238E27FC236}">
                <a16:creationId xmlns:a16="http://schemas.microsoft.com/office/drawing/2014/main" id="{F4465918-6A68-CE14-D808-1B90E20CA03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0AD175A-B95F-2937-C436-441D1C53AB3D}"/>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1085421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D52D2DB-EFA7-98E3-90EE-8EB3AA39083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3246938F-F1E8-0110-3C15-B607291B8D3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9FB93203-DCE5-F0FB-F797-60563B5BB0FE}"/>
              </a:ext>
            </a:extLst>
          </p:cNvPr>
          <p:cNvSpPr>
            <a:spLocks noGrp="1"/>
          </p:cNvSpPr>
          <p:nvPr>
            <p:ph type="dt" sz="half" idx="10"/>
          </p:nvPr>
        </p:nvSpPr>
        <p:spPr/>
        <p:txBody>
          <a:bodyPr/>
          <a:lstStyle/>
          <a:p>
            <a:fld id="{270595B2-135B-48A5-BC21-28672747E2A0}" type="datetimeFigureOut">
              <a:rPr lang="es-CO" smtClean="0"/>
              <a:t>25/09/2026</a:t>
            </a:fld>
            <a:endParaRPr lang="es-CO"/>
          </a:p>
        </p:txBody>
      </p:sp>
      <p:sp>
        <p:nvSpPr>
          <p:cNvPr id="5" name="Marcador de pie de página 4">
            <a:extLst>
              <a:ext uri="{FF2B5EF4-FFF2-40B4-BE49-F238E27FC236}">
                <a16:creationId xmlns:a16="http://schemas.microsoft.com/office/drawing/2014/main" id="{314442C7-77F8-3A9E-4D25-ED66E61FB15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7A383B7-3672-B332-2E2D-96ABBFE585EC}"/>
              </a:ext>
            </a:extLst>
          </p:cNvPr>
          <p:cNvSpPr>
            <a:spLocks noGrp="1"/>
          </p:cNvSpPr>
          <p:nvPr>
            <p:ph type="sldNum" sz="quarter" idx="12"/>
          </p:nvPr>
        </p:nvSpPr>
        <p:spPr/>
        <p:txBody>
          <a:bodyPr/>
          <a:lstStyle/>
          <a:p>
            <a:fld id="{DE5C5FCB-2CC7-48C1-940A-19DB903A0D2B}" type="slidenum">
              <a:rPr lang="es-CO" smtClean="0"/>
              <a:t>‹Nº›</a:t>
            </a:fld>
            <a:endParaRPr lang="es-CO"/>
          </a:p>
        </p:txBody>
      </p:sp>
    </p:spTree>
    <p:extLst>
      <p:ext uri="{BB962C8B-B14F-4D97-AF65-F5344CB8AC3E}">
        <p14:creationId xmlns:p14="http://schemas.microsoft.com/office/powerpoint/2010/main" val="4158441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F5E03C0-4FF8-9B66-804E-9DB25FA25E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118E8E20-C9F3-92B2-BB3C-35445007DA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DBCDC47-BF3C-C07C-BF61-73B5ECC9B5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0595B2-135B-48A5-BC21-28672747E2A0}" type="datetimeFigureOut">
              <a:rPr lang="es-CO" smtClean="0"/>
              <a:t>25/09/2026</a:t>
            </a:fld>
            <a:endParaRPr lang="es-CO"/>
          </a:p>
        </p:txBody>
      </p:sp>
      <p:sp>
        <p:nvSpPr>
          <p:cNvPr id="5" name="Marcador de pie de página 4">
            <a:extLst>
              <a:ext uri="{FF2B5EF4-FFF2-40B4-BE49-F238E27FC236}">
                <a16:creationId xmlns:a16="http://schemas.microsoft.com/office/drawing/2014/main" id="{3E3BD969-ED41-AF96-E758-7B89E15836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14DA31B0-02B2-5B64-BD04-BA5B0FF61B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5C5FCB-2CC7-48C1-940A-19DB903A0D2B}" type="slidenum">
              <a:rPr lang="es-CO" smtClean="0"/>
              <a:t>‹Nº›</a:t>
            </a:fld>
            <a:endParaRPr lang="es-CO"/>
          </a:p>
        </p:txBody>
      </p:sp>
    </p:spTree>
    <p:extLst>
      <p:ext uri="{BB962C8B-B14F-4D97-AF65-F5344CB8AC3E}">
        <p14:creationId xmlns:p14="http://schemas.microsoft.com/office/powerpoint/2010/main" val="2073198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file:///C:\Users\julia\OneDrive\Documentos"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7BFA4CA-B9E0-46E2-7D90-68EC6C9199D2}"/>
              </a:ext>
            </a:extLst>
          </p:cNvPr>
          <p:cNvSpPr txBox="1"/>
          <p:nvPr/>
        </p:nvSpPr>
        <p:spPr>
          <a:xfrm>
            <a:off x="5456903" y="1521446"/>
            <a:ext cx="6589997" cy="3046988"/>
          </a:xfrm>
          <a:prstGeom prst="rect">
            <a:avLst/>
          </a:prstGeom>
          <a:noFill/>
        </p:spPr>
        <p:txBody>
          <a:bodyPr wrap="square" rtlCol="0">
            <a:spAutoFit/>
          </a:bodyPr>
          <a:lstStyle/>
          <a:p>
            <a:r>
              <a:rPr lang="en-US" sz="3200" b="1" dirty="0">
                <a:solidFill>
                  <a:schemeClr val="accent3">
                    <a:lumMod val="75000"/>
                  </a:schemeClr>
                </a:solidFill>
                <a:latin typeface="Arial" panose="020B0604020202020204" pitchFamily="34" charset="0"/>
                <a:cs typeface="Arial" panose="020B0604020202020204" pitchFamily="34" charset="0"/>
              </a:rPr>
              <a:t>Patrones de diseño en c#:</a:t>
            </a:r>
            <a:br>
              <a:rPr lang="en-US" sz="3200" b="1" dirty="0">
                <a:solidFill>
                  <a:schemeClr val="accent3">
                    <a:lumMod val="75000"/>
                  </a:schemeClr>
                </a:solidFill>
                <a:latin typeface="Arial" panose="020B0604020202020204" pitchFamily="34" charset="0"/>
                <a:cs typeface="Arial" panose="020B0604020202020204" pitchFamily="34" charset="0"/>
              </a:rPr>
            </a:br>
            <a:r>
              <a:rPr lang="en-US" sz="3200" b="1" dirty="0">
                <a:solidFill>
                  <a:schemeClr val="accent3">
                    <a:lumMod val="75000"/>
                  </a:schemeClr>
                </a:solidFill>
                <a:latin typeface="Arial" panose="020B0604020202020204" pitchFamily="34" charset="0"/>
                <a:cs typeface="Arial" panose="020B0604020202020204" pitchFamily="34" charset="0"/>
              </a:rPr>
              <a:t>Prototype y State </a:t>
            </a:r>
          </a:p>
          <a:p>
            <a:endParaRPr lang="en-US" sz="3200" b="1" dirty="0">
              <a:solidFill>
                <a:schemeClr val="accent3">
                  <a:lumMod val="75000"/>
                </a:schemeClr>
              </a:solidFill>
              <a:latin typeface="Arial" panose="020B0604020202020204" pitchFamily="34" charset="0"/>
              <a:cs typeface="Arial" panose="020B0604020202020204" pitchFamily="34" charset="0"/>
            </a:endParaRPr>
          </a:p>
          <a:p>
            <a:endParaRPr lang="en-US" sz="3200" b="1" dirty="0">
              <a:solidFill>
                <a:schemeClr val="accent3">
                  <a:lumMod val="75000"/>
                </a:schemeClr>
              </a:solidFill>
              <a:latin typeface="Arial" panose="020B0604020202020204" pitchFamily="34" charset="0"/>
              <a:cs typeface="Arial" panose="020B0604020202020204" pitchFamily="34" charset="0"/>
            </a:endParaRPr>
          </a:p>
          <a:p>
            <a:r>
              <a:rPr lang="en-US" sz="3200" dirty="0">
                <a:solidFill>
                  <a:schemeClr val="accent3">
                    <a:lumMod val="75000"/>
                  </a:schemeClr>
                </a:solidFill>
                <a:latin typeface="Arial" panose="020B0604020202020204" pitchFamily="34" charset="0"/>
                <a:cs typeface="Arial" panose="020B0604020202020204" pitchFamily="34" charset="0"/>
              </a:rPr>
              <a:t>Julian Steven Ocampo Chica </a:t>
            </a:r>
            <a:br>
              <a:rPr lang="es-CO" sz="3200" b="1" dirty="0">
                <a:solidFill>
                  <a:schemeClr val="accent3">
                    <a:lumMod val="75000"/>
                  </a:schemeClr>
                </a:solidFill>
                <a:latin typeface="Arial" panose="020B0604020202020204" pitchFamily="34" charset="0"/>
                <a:cs typeface="Arial" panose="020B0604020202020204" pitchFamily="34" charset="0"/>
              </a:rPr>
            </a:br>
            <a:r>
              <a:rPr lang="es-CO" sz="3200" b="1" dirty="0">
                <a:solidFill>
                  <a:schemeClr val="accent3">
                    <a:lumMod val="75000"/>
                  </a:schemeClr>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59367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D8419F5-F7AA-3295-505E-D923FC4EBEDC}"/>
              </a:ext>
            </a:extLst>
          </p:cNvPr>
          <p:cNvSpPr txBox="1"/>
          <p:nvPr/>
        </p:nvSpPr>
        <p:spPr>
          <a:xfrm>
            <a:off x="600365" y="371241"/>
            <a:ext cx="7547956" cy="646331"/>
          </a:xfrm>
          <a:prstGeom prst="rect">
            <a:avLst/>
          </a:prstGeom>
          <a:noFill/>
        </p:spPr>
        <p:txBody>
          <a:bodyPr wrap="square" rtlCol="0">
            <a:spAutoFit/>
          </a:bodyPr>
          <a:lstStyle/>
          <a:p>
            <a:r>
              <a:rPr lang="es-CO" sz="3600" b="1" dirty="0">
                <a:solidFill>
                  <a:schemeClr val="accent3">
                    <a:lumMod val="75000"/>
                  </a:schemeClr>
                </a:solidFill>
                <a:latin typeface="Arial" panose="020B0604020202020204" pitchFamily="34" charset="0"/>
                <a:cs typeface="Arial" panose="020B0604020202020204" pitchFamily="34" charset="0"/>
              </a:rPr>
              <a:t>Que es patrón de diseño?</a:t>
            </a:r>
          </a:p>
        </p:txBody>
      </p:sp>
      <p:sp>
        <p:nvSpPr>
          <p:cNvPr id="7" name="CuadroTexto 6">
            <a:extLst>
              <a:ext uri="{FF2B5EF4-FFF2-40B4-BE49-F238E27FC236}">
                <a16:creationId xmlns:a16="http://schemas.microsoft.com/office/drawing/2014/main" id="{1BDD5339-B042-6CFA-DC55-4AD805855A6C}"/>
              </a:ext>
            </a:extLst>
          </p:cNvPr>
          <p:cNvSpPr txBox="1"/>
          <p:nvPr/>
        </p:nvSpPr>
        <p:spPr>
          <a:xfrm>
            <a:off x="600364" y="2733761"/>
            <a:ext cx="10677235" cy="1569660"/>
          </a:xfrm>
          <a:prstGeom prst="rect">
            <a:avLst/>
          </a:prstGeom>
          <a:noFill/>
        </p:spPr>
        <p:txBody>
          <a:bodyPr wrap="square">
            <a:spAutoFit/>
          </a:bodyPr>
          <a:lstStyle/>
          <a:p>
            <a:r>
              <a:rPr lang="es-CO" sz="2400" dirty="0"/>
              <a:t>Un patrón de diseño es una solución general, reutilizable y probada para resolver un problema recurrente en el diseño de software. No es código terminado, sino una plantilla o arquitectura que guía al desarrollador sobre cómo estructurar sus clases de forma limpia, mantenible y escalable.</a:t>
            </a:r>
            <a:endParaRPr lang="es-CO"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799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EE3EB-4708-61FC-F837-285108079A53}"/>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514B030D-AF41-0540-730F-2642C078863B}"/>
              </a:ext>
            </a:extLst>
          </p:cNvPr>
          <p:cNvSpPr txBox="1"/>
          <p:nvPr/>
        </p:nvSpPr>
        <p:spPr>
          <a:xfrm>
            <a:off x="914997" y="523634"/>
            <a:ext cx="7547956" cy="646331"/>
          </a:xfrm>
          <a:prstGeom prst="rect">
            <a:avLst/>
          </a:prstGeom>
          <a:noFill/>
        </p:spPr>
        <p:txBody>
          <a:bodyPr wrap="square" rtlCol="0">
            <a:spAutoFit/>
          </a:bodyPr>
          <a:lstStyle/>
          <a:p>
            <a:r>
              <a:rPr lang="es-CO" sz="3600" b="1" dirty="0">
                <a:solidFill>
                  <a:schemeClr val="accent3">
                    <a:lumMod val="75000"/>
                  </a:schemeClr>
                </a:solidFill>
                <a:latin typeface="Arial" panose="020B0604020202020204" pitchFamily="34" charset="0"/>
                <a:cs typeface="Arial" panose="020B0604020202020204" pitchFamily="34" charset="0"/>
              </a:rPr>
              <a:t>Patron protype.</a:t>
            </a:r>
          </a:p>
        </p:txBody>
      </p:sp>
      <p:sp>
        <p:nvSpPr>
          <p:cNvPr id="5" name="CuadroTexto 4">
            <a:extLst>
              <a:ext uri="{FF2B5EF4-FFF2-40B4-BE49-F238E27FC236}">
                <a16:creationId xmlns:a16="http://schemas.microsoft.com/office/drawing/2014/main" id="{8095D8C7-8474-EB1B-EF8C-9A5591B96425}"/>
              </a:ext>
            </a:extLst>
          </p:cNvPr>
          <p:cNvSpPr txBox="1"/>
          <p:nvPr/>
        </p:nvSpPr>
        <p:spPr>
          <a:xfrm>
            <a:off x="806245" y="2454780"/>
            <a:ext cx="10618839" cy="1631216"/>
          </a:xfrm>
          <a:prstGeom prst="rect">
            <a:avLst/>
          </a:prstGeom>
          <a:noFill/>
        </p:spPr>
        <p:txBody>
          <a:bodyPr wrap="square" rtlCol="0">
            <a:spAutoFit/>
          </a:bodyPr>
          <a:lstStyle/>
          <a:p>
            <a:r>
              <a:rPr lang="es-CO" sz="2000" dirty="0"/>
              <a:t>El </a:t>
            </a:r>
            <a:r>
              <a:rPr lang="es-CO" sz="2000" b="1" dirty="0"/>
              <a:t>patrón Prototype</a:t>
            </a:r>
            <a:r>
              <a:rPr lang="es-CO" sz="2000" dirty="0"/>
              <a:t> es un patrón de diseño </a:t>
            </a:r>
            <a:r>
              <a:rPr lang="es-CO" sz="2000" b="1" dirty="0"/>
              <a:t>creacional</a:t>
            </a:r>
            <a:r>
              <a:rPr lang="es-CO" sz="2000" dirty="0"/>
              <a:t> que permite duplicar o clonar objetos existentes sin acoplar el código a sus clases concretas. Es ideal cuando la creación de un objeto desde cero es costosa en términos de rendimiento (como consultas a bases de datos o llamadas a APIs) o cuando se requiere mantener el estado interno y privado del objeto original al generar una nueva instancia.</a:t>
            </a:r>
            <a:endParaRPr lang="es-CO" sz="2000" dirty="0">
              <a:solidFill>
                <a:schemeClr val="accent3">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8567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0C06B-1601-766A-7777-5DF9A5039FEA}"/>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5CE18708-6E01-367B-354C-E35E99CC15A6}"/>
              </a:ext>
            </a:extLst>
          </p:cNvPr>
          <p:cNvSpPr txBox="1"/>
          <p:nvPr/>
        </p:nvSpPr>
        <p:spPr>
          <a:xfrm>
            <a:off x="752764" y="627692"/>
            <a:ext cx="7547956" cy="646331"/>
          </a:xfrm>
          <a:prstGeom prst="rect">
            <a:avLst/>
          </a:prstGeom>
          <a:noFill/>
        </p:spPr>
        <p:txBody>
          <a:bodyPr wrap="square" rtlCol="0">
            <a:spAutoFit/>
          </a:bodyPr>
          <a:lstStyle/>
          <a:p>
            <a:r>
              <a:rPr lang="es-CO" sz="3600" b="1" dirty="0">
                <a:solidFill>
                  <a:schemeClr val="accent3">
                    <a:lumMod val="75000"/>
                  </a:schemeClr>
                </a:solidFill>
                <a:latin typeface="Arial" panose="020B0604020202020204" pitchFamily="34" charset="0"/>
                <a:cs typeface="Arial" panose="020B0604020202020204" pitchFamily="34" charset="0"/>
              </a:rPr>
              <a:t>Ejemplo corto-prototype:</a:t>
            </a:r>
          </a:p>
        </p:txBody>
      </p:sp>
      <p:sp>
        <p:nvSpPr>
          <p:cNvPr id="5" name="CuadroTexto 4">
            <a:extLst>
              <a:ext uri="{FF2B5EF4-FFF2-40B4-BE49-F238E27FC236}">
                <a16:creationId xmlns:a16="http://schemas.microsoft.com/office/drawing/2014/main" id="{C91A5813-22FD-2B28-C56B-EB7D35F2C10A}"/>
              </a:ext>
            </a:extLst>
          </p:cNvPr>
          <p:cNvSpPr txBox="1"/>
          <p:nvPr/>
        </p:nvSpPr>
        <p:spPr>
          <a:xfrm>
            <a:off x="752764" y="1454032"/>
            <a:ext cx="10686472" cy="400110"/>
          </a:xfrm>
          <a:prstGeom prst="rect">
            <a:avLst/>
          </a:prstGeom>
          <a:noFill/>
        </p:spPr>
        <p:txBody>
          <a:bodyPr wrap="square" rtlCol="0">
            <a:spAutoFit/>
          </a:bodyPr>
          <a:lstStyle/>
          <a:p>
            <a:endParaRPr lang="es-CO" sz="2000" dirty="0">
              <a:solidFill>
                <a:schemeClr val="accent3">
                  <a:lumMod val="75000"/>
                </a:schemeClr>
              </a:solidFill>
              <a:latin typeface="Arial" panose="020B0604020202020204" pitchFamily="34" charset="0"/>
              <a:cs typeface="Arial" panose="020B0604020202020204" pitchFamily="34" charset="0"/>
            </a:endParaRPr>
          </a:p>
        </p:txBody>
      </p:sp>
      <p:sp>
        <p:nvSpPr>
          <p:cNvPr id="3" name="Elipse 2">
            <a:extLst>
              <a:ext uri="{FF2B5EF4-FFF2-40B4-BE49-F238E27FC236}">
                <a16:creationId xmlns:a16="http://schemas.microsoft.com/office/drawing/2014/main" id="{0AD8502F-1FE7-4481-B998-BE6AC7130466}"/>
              </a:ext>
            </a:extLst>
          </p:cNvPr>
          <p:cNvSpPr/>
          <p:nvPr/>
        </p:nvSpPr>
        <p:spPr>
          <a:xfrm>
            <a:off x="11673840" y="6410960"/>
            <a:ext cx="416560" cy="44704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CO" dirty="0"/>
              <a:t>4</a:t>
            </a:r>
          </a:p>
        </p:txBody>
      </p:sp>
      <p:sp>
        <p:nvSpPr>
          <p:cNvPr id="8" name="CuadroTexto 7">
            <a:extLst>
              <a:ext uri="{FF2B5EF4-FFF2-40B4-BE49-F238E27FC236}">
                <a16:creationId xmlns:a16="http://schemas.microsoft.com/office/drawing/2014/main" id="{16CC1346-2524-0D61-5FCB-B6B39FB08513}"/>
              </a:ext>
            </a:extLst>
          </p:cNvPr>
          <p:cNvSpPr txBox="1"/>
          <p:nvPr/>
        </p:nvSpPr>
        <p:spPr>
          <a:xfrm>
            <a:off x="254924" y="6410960"/>
            <a:ext cx="11835476" cy="338554"/>
          </a:xfrm>
          <a:prstGeom prst="rect">
            <a:avLst/>
          </a:prstGeom>
          <a:noFill/>
        </p:spPr>
        <p:txBody>
          <a:bodyPr wrap="square" rtlCol="0">
            <a:spAutoFit/>
          </a:bodyPr>
          <a:lstStyle/>
          <a:p>
            <a:r>
              <a:rPr lang="en-US" sz="1600" b="1" i="1" dirty="0">
                <a:solidFill>
                  <a:schemeClr val="accent3">
                    <a:lumMod val="75000"/>
                  </a:schemeClr>
                </a:solidFill>
                <a:latin typeface="Arial" panose="020B0604020202020204" pitchFamily="34" charset="0"/>
                <a:cs typeface="Arial" panose="020B0604020202020204" pitchFamily="34" charset="0"/>
              </a:rPr>
              <a:t>Research Question | Background | Problem | Solution | Conclusions | Analysis in the Local Context | References</a:t>
            </a:r>
            <a:endParaRPr lang="es-CO" dirty="0"/>
          </a:p>
        </p:txBody>
      </p:sp>
      <p:pic>
        <p:nvPicPr>
          <p:cNvPr id="10" name="Imagen 9">
            <a:extLst>
              <a:ext uri="{FF2B5EF4-FFF2-40B4-BE49-F238E27FC236}">
                <a16:creationId xmlns:a16="http://schemas.microsoft.com/office/drawing/2014/main" id="{9ED60920-59C5-B024-9359-7E8FC348D8BA}"/>
              </a:ext>
            </a:extLst>
          </p:cNvPr>
          <p:cNvPicPr>
            <a:picLocks noChangeAspect="1"/>
          </p:cNvPicPr>
          <p:nvPr/>
        </p:nvPicPr>
        <p:blipFill>
          <a:blip r:embed="rId3"/>
          <a:stretch>
            <a:fillRect/>
          </a:stretch>
        </p:blipFill>
        <p:spPr>
          <a:xfrm>
            <a:off x="1242237" y="1609638"/>
            <a:ext cx="6569009" cy="4465707"/>
          </a:xfrm>
          <a:prstGeom prst="rect">
            <a:avLst/>
          </a:prstGeom>
        </p:spPr>
      </p:pic>
    </p:spTree>
    <p:extLst>
      <p:ext uri="{BB962C8B-B14F-4D97-AF65-F5344CB8AC3E}">
        <p14:creationId xmlns:p14="http://schemas.microsoft.com/office/powerpoint/2010/main" val="2770504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153FF-BEEC-ED77-FBF4-5BEE30BA3888}"/>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002F73AA-9524-6D45-9508-F26BC6571412}"/>
              </a:ext>
            </a:extLst>
          </p:cNvPr>
          <p:cNvSpPr txBox="1"/>
          <p:nvPr/>
        </p:nvSpPr>
        <p:spPr>
          <a:xfrm>
            <a:off x="711662" y="690782"/>
            <a:ext cx="10768676" cy="646331"/>
          </a:xfrm>
          <a:prstGeom prst="rect">
            <a:avLst/>
          </a:prstGeom>
          <a:noFill/>
        </p:spPr>
        <p:txBody>
          <a:bodyPr wrap="square" rtlCol="0">
            <a:spAutoFit/>
          </a:bodyPr>
          <a:lstStyle/>
          <a:p>
            <a:r>
              <a:rPr lang="es-CO" sz="3600" b="1" dirty="0">
                <a:solidFill>
                  <a:schemeClr val="accent3">
                    <a:lumMod val="75000"/>
                  </a:schemeClr>
                </a:solidFill>
                <a:latin typeface="Arial" panose="020B0604020202020204" pitchFamily="34" charset="0"/>
                <a:cs typeface="Arial" panose="020B0604020202020204" pitchFamily="34" charset="0"/>
              </a:rPr>
              <a:t>Causas de uso y ventajas de prototype:</a:t>
            </a:r>
          </a:p>
        </p:txBody>
      </p:sp>
      <p:sp>
        <p:nvSpPr>
          <p:cNvPr id="7" name="CuadroTexto 6">
            <a:extLst>
              <a:ext uri="{FF2B5EF4-FFF2-40B4-BE49-F238E27FC236}">
                <a16:creationId xmlns:a16="http://schemas.microsoft.com/office/drawing/2014/main" id="{B49B331A-DB1C-6B15-A2BC-F6217521AFE2}"/>
              </a:ext>
            </a:extLst>
          </p:cNvPr>
          <p:cNvSpPr txBox="1"/>
          <p:nvPr/>
        </p:nvSpPr>
        <p:spPr>
          <a:xfrm>
            <a:off x="737419" y="2807391"/>
            <a:ext cx="11031794" cy="1477328"/>
          </a:xfrm>
          <a:prstGeom prst="rect">
            <a:avLst/>
          </a:prstGeom>
          <a:noFill/>
        </p:spPr>
        <p:txBody>
          <a:bodyPr wrap="square">
            <a:spAutoFit/>
          </a:bodyPr>
          <a:lstStyle/>
          <a:p>
            <a:r>
              <a:rPr lang="es-CO" dirty="0"/>
              <a:t>El </a:t>
            </a:r>
            <a:r>
              <a:rPr lang="es-CO" b="1" dirty="0"/>
              <a:t>patrón Prototype</a:t>
            </a:r>
            <a:r>
              <a:rPr lang="es-CO" dirty="0"/>
              <a:t> se utiliza principalmente cuando la creación de un objeto desde cero impacta el rendimiento del sistema por requerir operaciones costosas, como lecturas de disco o consultas a bases de datos. Su mayor ventaja es que permite generar nuevas instancias en memoria de forma casi instantánea manteniendo el estado base y el encapsulamiento del objeto, evitando depender de constructores complejos o acoplar el código a clases concretas.</a:t>
            </a:r>
          </a:p>
        </p:txBody>
      </p:sp>
    </p:spTree>
    <p:extLst>
      <p:ext uri="{BB962C8B-B14F-4D97-AF65-F5344CB8AC3E}">
        <p14:creationId xmlns:p14="http://schemas.microsoft.com/office/powerpoint/2010/main" val="1616191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C71FD07F-EB9B-2DF6-317E-A45DC49BF24E}"/>
              </a:ext>
            </a:extLst>
          </p:cNvPr>
          <p:cNvSpPr txBox="1">
            <a:spLocks noGrp="1"/>
          </p:cNvSpPr>
          <p:nvPr>
            <p:ph type="title"/>
          </p:nvPr>
        </p:nvSpPr>
        <p:spPr>
          <a:xfrm>
            <a:off x="838200" y="732441"/>
            <a:ext cx="10515600" cy="590931"/>
          </a:xfrm>
          <a:prstGeom prst="rect">
            <a:avLst/>
          </a:prstGeom>
          <a:noFill/>
        </p:spPr>
        <p:txBody>
          <a:bodyPr wrap="square" rtlCol="0">
            <a:spAutoFit/>
          </a:bodyPr>
          <a:lstStyle/>
          <a:p>
            <a:r>
              <a:rPr lang="es-CO" sz="3600" b="1" dirty="0">
                <a:solidFill>
                  <a:schemeClr val="accent3">
                    <a:lumMod val="75000"/>
                  </a:schemeClr>
                </a:solidFill>
                <a:latin typeface="Arial" panose="020B0604020202020204" pitchFamily="34" charset="0"/>
                <a:cs typeface="Arial" panose="020B0604020202020204" pitchFamily="34" charset="0"/>
              </a:rPr>
              <a:t>Patron state.</a:t>
            </a:r>
          </a:p>
        </p:txBody>
      </p:sp>
      <p:sp>
        <p:nvSpPr>
          <p:cNvPr id="8" name="CuadroTexto 7">
            <a:extLst>
              <a:ext uri="{FF2B5EF4-FFF2-40B4-BE49-F238E27FC236}">
                <a16:creationId xmlns:a16="http://schemas.microsoft.com/office/drawing/2014/main" id="{550522D8-8033-3D7C-D8C5-59F48ACA49BF}"/>
              </a:ext>
            </a:extLst>
          </p:cNvPr>
          <p:cNvSpPr txBox="1"/>
          <p:nvPr/>
        </p:nvSpPr>
        <p:spPr>
          <a:xfrm>
            <a:off x="914399" y="3251542"/>
            <a:ext cx="9733935" cy="1200329"/>
          </a:xfrm>
          <a:prstGeom prst="rect">
            <a:avLst/>
          </a:prstGeom>
          <a:noFill/>
        </p:spPr>
        <p:txBody>
          <a:bodyPr wrap="square">
            <a:spAutoFit/>
          </a:bodyPr>
          <a:lstStyle/>
          <a:p>
            <a:r>
              <a:rPr lang="es-CO" dirty="0"/>
              <a:t>El </a:t>
            </a:r>
            <a:r>
              <a:rPr lang="es-CO" b="1" dirty="0"/>
              <a:t>patrón State</a:t>
            </a:r>
            <a:r>
              <a:rPr lang="es-CO" dirty="0"/>
              <a:t> es un patrón </a:t>
            </a:r>
            <a:r>
              <a:rPr lang="es-CO" b="1" dirty="0"/>
              <a:t>conductual</a:t>
            </a:r>
            <a:r>
              <a:rPr lang="es-CO" dirty="0"/>
              <a:t> que permite a un objeto alterar su comportamiento cuando su estado interno cambia, haciendo que parezca como si el objeto cambiara de clase. Su objetivo principal es encapsular cada estado en su propia clase, eliminando los bloques gigantescos de condicionales (</a:t>
            </a:r>
            <a:r>
              <a:rPr lang="es-CO" dirty="0" err="1">
                <a:latin typeface="+mn-lt"/>
              </a:rPr>
              <a:t>if</a:t>
            </a:r>
            <a:r>
              <a:rPr lang="es-CO" dirty="0">
                <a:latin typeface="+mn-lt"/>
              </a:rPr>
              <a:t>/switch</a:t>
            </a:r>
            <a:r>
              <a:rPr lang="es-CO" dirty="0"/>
              <a:t>) y delegando las reglas de negocio al estado activo.</a:t>
            </a:r>
          </a:p>
        </p:txBody>
      </p:sp>
    </p:spTree>
    <p:extLst>
      <p:ext uri="{BB962C8B-B14F-4D97-AF65-F5344CB8AC3E}">
        <p14:creationId xmlns:p14="http://schemas.microsoft.com/office/powerpoint/2010/main" val="2601703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083CE8-65F9-343D-00CE-1356C15B61F2}"/>
              </a:ext>
            </a:extLst>
          </p:cNvPr>
          <p:cNvSpPr>
            <a:spLocks noGrp="1"/>
          </p:cNvSpPr>
          <p:nvPr>
            <p:ph type="title"/>
          </p:nvPr>
        </p:nvSpPr>
        <p:spPr/>
        <p:txBody>
          <a:bodyPr/>
          <a:lstStyle/>
          <a:p>
            <a:r>
              <a:rPr lang="es-CO" b="1" dirty="0">
                <a:solidFill>
                  <a:schemeClr val="accent3">
                    <a:lumMod val="75000"/>
                  </a:schemeClr>
                </a:solidFill>
                <a:latin typeface="Arial" panose="020B0604020202020204" pitchFamily="34" charset="0"/>
                <a:cs typeface="Arial" panose="020B0604020202020204" pitchFamily="34" charset="0"/>
              </a:rPr>
              <a:t>Ejemplo corto-state:</a:t>
            </a:r>
            <a:br>
              <a:rPr lang="es-CO" b="1" dirty="0">
                <a:solidFill>
                  <a:schemeClr val="accent3">
                    <a:lumMod val="75000"/>
                  </a:schemeClr>
                </a:solidFill>
                <a:latin typeface="Arial" panose="020B0604020202020204" pitchFamily="34" charset="0"/>
                <a:cs typeface="Arial" panose="020B0604020202020204" pitchFamily="34" charset="0"/>
              </a:rPr>
            </a:br>
            <a:endParaRPr lang="es-CO" dirty="0"/>
          </a:p>
        </p:txBody>
      </p:sp>
      <p:pic>
        <p:nvPicPr>
          <p:cNvPr id="5" name="Imagen 4">
            <a:extLst>
              <a:ext uri="{FF2B5EF4-FFF2-40B4-BE49-F238E27FC236}">
                <a16:creationId xmlns:a16="http://schemas.microsoft.com/office/drawing/2014/main" id="{DF43916B-D5A3-D2D2-E84D-AF9FD61CE8DF}"/>
              </a:ext>
            </a:extLst>
          </p:cNvPr>
          <p:cNvPicPr>
            <a:picLocks noChangeAspect="1"/>
          </p:cNvPicPr>
          <p:nvPr/>
        </p:nvPicPr>
        <p:blipFill>
          <a:blip r:embed="rId2"/>
          <a:stretch>
            <a:fillRect/>
          </a:stretch>
        </p:blipFill>
        <p:spPr>
          <a:xfrm>
            <a:off x="383460" y="945198"/>
            <a:ext cx="8587528" cy="3745972"/>
          </a:xfrm>
          <a:prstGeom prst="rect">
            <a:avLst/>
          </a:prstGeom>
        </p:spPr>
      </p:pic>
      <p:pic>
        <p:nvPicPr>
          <p:cNvPr id="7" name="Imagen 6">
            <a:extLst>
              <a:ext uri="{FF2B5EF4-FFF2-40B4-BE49-F238E27FC236}">
                <a16:creationId xmlns:a16="http://schemas.microsoft.com/office/drawing/2014/main" id="{D727A46C-0571-CD40-8CB6-5168CE0B8465}"/>
              </a:ext>
            </a:extLst>
          </p:cNvPr>
          <p:cNvPicPr>
            <a:picLocks noChangeAspect="1"/>
          </p:cNvPicPr>
          <p:nvPr/>
        </p:nvPicPr>
        <p:blipFill>
          <a:blip r:embed="rId3"/>
          <a:stretch>
            <a:fillRect/>
          </a:stretch>
        </p:blipFill>
        <p:spPr>
          <a:xfrm>
            <a:off x="383460" y="4691170"/>
            <a:ext cx="6911939" cy="1615580"/>
          </a:xfrm>
          <a:prstGeom prst="rect">
            <a:avLst/>
          </a:prstGeom>
        </p:spPr>
      </p:pic>
    </p:spTree>
    <p:extLst>
      <p:ext uri="{BB962C8B-B14F-4D97-AF65-F5344CB8AC3E}">
        <p14:creationId xmlns:p14="http://schemas.microsoft.com/office/powerpoint/2010/main" val="79448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F039EE-5D07-2117-47DD-F68F8977001A}"/>
              </a:ext>
            </a:extLst>
          </p:cNvPr>
          <p:cNvSpPr>
            <a:spLocks noGrp="1"/>
          </p:cNvSpPr>
          <p:nvPr>
            <p:ph type="title"/>
          </p:nvPr>
        </p:nvSpPr>
        <p:spPr>
          <a:xfrm>
            <a:off x="838199" y="365125"/>
            <a:ext cx="11166987" cy="1325563"/>
          </a:xfrm>
        </p:spPr>
        <p:txBody>
          <a:bodyPr>
            <a:normAutofit/>
          </a:bodyPr>
          <a:lstStyle/>
          <a:p>
            <a:r>
              <a:rPr lang="es-CO" sz="3600" b="1" dirty="0">
                <a:solidFill>
                  <a:schemeClr val="accent3">
                    <a:lumMod val="75000"/>
                  </a:schemeClr>
                </a:solidFill>
                <a:latin typeface="Arial" panose="020B0604020202020204" pitchFamily="34" charset="0"/>
                <a:cs typeface="Arial" panose="020B0604020202020204" pitchFamily="34" charset="0"/>
              </a:rPr>
              <a:t>Causas de uso y ventajas de state  </a:t>
            </a:r>
            <a:endParaRPr lang="es-CO" sz="3600" dirty="0"/>
          </a:p>
        </p:txBody>
      </p:sp>
      <p:sp>
        <p:nvSpPr>
          <p:cNvPr id="8" name="CuadroTexto 7">
            <a:extLst>
              <a:ext uri="{FF2B5EF4-FFF2-40B4-BE49-F238E27FC236}">
                <a16:creationId xmlns:a16="http://schemas.microsoft.com/office/drawing/2014/main" id="{11003556-358A-D335-BCC6-7D2A97ADFBBE}"/>
              </a:ext>
            </a:extLst>
          </p:cNvPr>
          <p:cNvSpPr txBox="1"/>
          <p:nvPr/>
        </p:nvSpPr>
        <p:spPr>
          <a:xfrm>
            <a:off x="403123" y="2837736"/>
            <a:ext cx="11277600" cy="1200329"/>
          </a:xfrm>
          <a:prstGeom prst="rect">
            <a:avLst/>
          </a:prstGeom>
          <a:noFill/>
        </p:spPr>
        <p:txBody>
          <a:bodyPr wrap="square">
            <a:spAutoFit/>
          </a:bodyPr>
          <a:lstStyle/>
          <a:p>
            <a:r>
              <a:rPr lang="es-CO" dirty="0"/>
              <a:t>El </a:t>
            </a:r>
            <a:r>
              <a:rPr lang="es-CO" b="1" dirty="0"/>
              <a:t>patrón State</a:t>
            </a:r>
            <a:r>
              <a:rPr lang="es-CO" dirty="0"/>
              <a:t> se utiliza cuando un objeto maneja una máquina de estados finita donde su comportamiento cambia drásticamente según el estado actual. Su mayor ventaja es que cumple con el principio Open/</a:t>
            </a:r>
            <a:r>
              <a:rPr lang="es-CO" dirty="0" err="1"/>
              <a:t>Closed</a:t>
            </a:r>
            <a:r>
              <a:rPr lang="es-CO" dirty="0"/>
              <a:t> al permitir agregar nuevos estados sin modificar el código existente, manteniendo la lógica limpia, modular y fácil de mantener al eliminar la dependencia de estructuras condicionales complejas.</a:t>
            </a:r>
          </a:p>
        </p:txBody>
      </p:sp>
    </p:spTree>
    <p:extLst>
      <p:ext uri="{BB962C8B-B14F-4D97-AF65-F5344CB8AC3E}">
        <p14:creationId xmlns:p14="http://schemas.microsoft.com/office/powerpoint/2010/main" val="801739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344479C-7C06-40E0-1A2C-0C2DE2CA8051}"/>
              </a:ext>
            </a:extLst>
          </p:cNvPr>
          <p:cNvSpPr txBox="1"/>
          <p:nvPr/>
        </p:nvSpPr>
        <p:spPr>
          <a:xfrm>
            <a:off x="905164" y="612124"/>
            <a:ext cx="3646516" cy="646331"/>
          </a:xfrm>
          <a:prstGeom prst="rect">
            <a:avLst/>
          </a:prstGeom>
          <a:noFill/>
        </p:spPr>
        <p:txBody>
          <a:bodyPr wrap="square" rtlCol="0">
            <a:spAutoFit/>
          </a:bodyPr>
          <a:lstStyle/>
          <a:p>
            <a:r>
              <a:rPr lang="es-CO" sz="3600" b="1" dirty="0">
                <a:solidFill>
                  <a:schemeClr val="accent3">
                    <a:lumMod val="75000"/>
                  </a:schemeClr>
                </a:solidFill>
                <a:latin typeface="Arial" panose="020B0604020202020204" pitchFamily="34" charset="0"/>
                <a:cs typeface="Arial" panose="020B0604020202020204" pitchFamily="34" charset="0"/>
              </a:rPr>
              <a:t>Conclusión:</a:t>
            </a:r>
          </a:p>
        </p:txBody>
      </p:sp>
      <p:sp>
        <p:nvSpPr>
          <p:cNvPr id="10" name="CuadroTexto 9">
            <a:extLst>
              <a:ext uri="{FF2B5EF4-FFF2-40B4-BE49-F238E27FC236}">
                <a16:creationId xmlns:a16="http://schemas.microsoft.com/office/drawing/2014/main" id="{2BF63977-BBD8-C0A8-C827-C9BBB0002AB4}"/>
              </a:ext>
            </a:extLst>
          </p:cNvPr>
          <p:cNvSpPr txBox="1"/>
          <p:nvPr/>
        </p:nvSpPr>
        <p:spPr>
          <a:xfrm>
            <a:off x="905164" y="1491215"/>
            <a:ext cx="10686472" cy="400110"/>
          </a:xfrm>
          <a:prstGeom prst="rect">
            <a:avLst/>
          </a:prstGeom>
          <a:noFill/>
        </p:spPr>
        <p:txBody>
          <a:bodyPr wrap="square" rtlCol="0">
            <a:spAutoFit/>
          </a:bodyPr>
          <a:lstStyle/>
          <a:p>
            <a:endParaRPr lang="es-CO" sz="2000"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0B4410E5-D8AC-F78C-CA10-865C7B4727D5}"/>
              </a:ext>
            </a:extLst>
          </p:cNvPr>
          <p:cNvSpPr txBox="1"/>
          <p:nvPr/>
        </p:nvSpPr>
        <p:spPr>
          <a:xfrm>
            <a:off x="482376" y="1505683"/>
            <a:ext cx="10185623" cy="3139321"/>
          </a:xfrm>
          <a:prstGeom prst="rect">
            <a:avLst/>
          </a:prstGeom>
          <a:noFill/>
        </p:spPr>
        <p:txBody>
          <a:bodyPr wrap="square">
            <a:spAutoFit/>
          </a:bodyPr>
          <a:lstStyle/>
          <a:p>
            <a:r>
              <a:rPr lang="es-CO" dirty="0"/>
              <a:t>Los patrones de diseño </a:t>
            </a:r>
            <a:r>
              <a:rPr lang="es-CO" b="1" dirty="0"/>
              <a:t>Prototype</a:t>
            </a:r>
            <a:r>
              <a:rPr lang="es-CO" dirty="0"/>
              <a:t> y </a:t>
            </a:r>
            <a:r>
              <a:rPr lang="es-CO" b="1" dirty="0"/>
              <a:t>State</a:t>
            </a:r>
            <a:r>
              <a:rPr lang="es-CO" dirty="0"/>
              <a:t> demuestran cómo la arquitectura de software en C# puede resolver problemas complejos de escalabilidad y rendimiento mediante abstracciones elegantes. Mientras que Prototype optimiza la creación de instancias complejas reduciendo el impacto en memoria y el procesamiento en operaciones costosas, State elimina la fragilidad del código condicional al encapsular comportamientos cambiantes en clases independientes. Incorporar ambos patrones no se trata de añadir complejidad innecesaria, sino de aplicar los principios SOLID para garantizar que el sistema sea fácil de extender, probar y mantener frente a los requerimientos cambiantes del mundo real.</a:t>
            </a:r>
          </a:p>
          <a:p>
            <a:endParaRPr lang="es-CO" dirty="0"/>
          </a:p>
          <a:p>
            <a:r>
              <a:rPr lang="es-CO" dirty="0"/>
              <a:t>KAHOOT: </a:t>
            </a:r>
            <a:r>
              <a:rPr lang="es-CO" dirty="0">
                <a:hlinkClick r:id="rId4" action="ppaction://hlinkfile"/>
              </a:rPr>
              <a:t>https://create.kahoot.it/share/patrones-de-diseno-state-prototype/8ef41f41-cd6f-4837-ba3b-d580aa6e8315</a:t>
            </a:r>
            <a:endParaRPr lang="es-CO" dirty="0"/>
          </a:p>
        </p:txBody>
      </p:sp>
    </p:spTree>
    <p:extLst>
      <p:ext uri="{BB962C8B-B14F-4D97-AF65-F5344CB8AC3E}">
        <p14:creationId xmlns:p14="http://schemas.microsoft.com/office/powerpoint/2010/main" val="214070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736016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832</TotalTime>
  <Words>533</Words>
  <Application>Microsoft Office PowerPoint</Application>
  <PresentationFormat>Panorámica</PresentationFormat>
  <Paragraphs>34</Paragraphs>
  <Slides>10</Slides>
  <Notes>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Aptos</vt:lpstr>
      <vt:lpstr>Aptos Display</vt:lpstr>
      <vt:lpstr>Arial</vt:lpstr>
      <vt:lpstr>Tema de Office</vt:lpstr>
      <vt:lpstr>Presentación de PowerPoint</vt:lpstr>
      <vt:lpstr>Presentación de PowerPoint</vt:lpstr>
      <vt:lpstr>Presentación de PowerPoint</vt:lpstr>
      <vt:lpstr>Presentación de PowerPoint</vt:lpstr>
      <vt:lpstr>Presentación de PowerPoint</vt:lpstr>
      <vt:lpstr>Patron state.</vt:lpstr>
      <vt:lpstr>Ejemplo corto-state: </vt:lpstr>
      <vt:lpstr>Causas de uso y ventajas de state  </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Mariana Correa Ramirez</dc:creator>
  <cp:lastModifiedBy>Julian Ocampo</cp:lastModifiedBy>
  <cp:revision>11</cp:revision>
  <dcterms:created xsi:type="dcterms:W3CDTF">2026-01-14T13:42:52Z</dcterms:created>
  <dcterms:modified xsi:type="dcterms:W3CDTF">2026-09-25T20:12:48Z</dcterms:modified>
</cp:coreProperties>
</file>